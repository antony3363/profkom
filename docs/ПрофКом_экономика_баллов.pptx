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2F5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659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Segoe UI"/>
              </a:rPr>
              <a:t>Экономика баллов «ПрофКом»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718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B9C3D9"/>
                </a:solidFill>
                <a:latin typeface="Segoe UI"/>
              </a:rPr>
              <a:t>Сравнение вариантов решения по эмиссии, распределению и сгоранию баллов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F636E"/>
                </a:solidFill>
                <a:latin typeface="Segoe UI"/>
              </a:rPr>
              <a:t>21.08.2026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F5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D8E4FB"/>
                </a:solidFill>
                <a:latin typeface="Segoe UI"/>
              </a:rPr>
              <a:t>СОДЕРЖАНИЕ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О чём этот документ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</a:pPr>
            <a:r>
              <a:rPr sz="2000">
                <a:solidFill>
                  <a:srgbClr val="1B1F2A"/>
                </a:solidFill>
                <a:latin typeface="Segoe UI"/>
              </a:rPr>
              <a:t>•  1. Модель распределения квоты между профоргами (варианты A / B / C)</a:t>
            </a:r>
          </a:p>
          <a:p>
            <a:pPr>
              <a:spcAft>
                <a:spcPts val="2200"/>
              </a:spcAft>
            </a:pPr>
            <a:r>
              <a:rPr sz="2000">
                <a:solidFill>
                  <a:srgbClr val="1B1F2A"/>
                </a:solidFill>
                <a:latin typeface="Segoe UI"/>
              </a:rPr>
              <a:t>•  2. Формальная привязка пула к объёму мерча vs дискреционная раздача</a:t>
            </a:r>
          </a:p>
          <a:p>
            <a:pPr>
              <a:spcAft>
                <a:spcPts val="2200"/>
              </a:spcAft>
            </a:pPr>
            <a:r>
              <a:rPr sz="2000">
                <a:solidFill>
                  <a:srgbClr val="1B1F2A"/>
                </a:solidFill>
                <a:latin typeface="Segoe UI"/>
              </a:rPr>
              <a:t>•  3. Сгорание баллов студента: несгораемые vs раз в курс (год)</a:t>
            </a:r>
          </a:p>
          <a:p>
            <a:pPr>
              <a:spcAft>
                <a:spcPts val="2200"/>
              </a:spcAft>
            </a:pPr>
            <a:r>
              <a:rPr sz="2000">
                <a:solidFill>
                  <a:srgbClr val="1B1F2A"/>
                </a:solidFill>
                <a:latin typeface="Segoe UI"/>
              </a:rPr>
              <a:t>•  4. Реакция на исчерпание бюджета баллов</a:t>
            </a:r>
          </a:p>
          <a:p>
            <a:pPr>
              <a:spcAft>
                <a:spcPts val="2200"/>
              </a:spcAft>
            </a:pPr>
            <a:r>
              <a:rPr sz="2000">
                <a:solidFill>
                  <a:srgbClr val="1B1F2A"/>
                </a:solidFill>
                <a:latin typeface="Segoe UI"/>
              </a:rPr>
              <a:t>•  5. Два итоговых варианта решения — для финального выбора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468880"/>
            <a:ext cx="29260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0" b="1" i="0">
                <a:solidFill>
                  <a:srgbClr val="2F5DC7"/>
                </a:solidFill>
                <a:latin typeface="Segoe UI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49039" y="2651760"/>
            <a:ext cx="7680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Модель распределения квоты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39" y="3566160"/>
            <a:ext cx="76809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B9C3D9"/>
                </a:solidFill>
                <a:latin typeface="Segoe UI"/>
              </a:rPr>
              <a:t>Как Литвинов распределяет право начислять баллы между профоргами
школ, направлений и групп?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F5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D8E4FB"/>
                </a:solidFill>
                <a:latin typeface="Segoe UI"/>
              </a:rPr>
              <a:t>ВОПРОС 1 · ВАРИАНТ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Каскадные суб-кошельки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5F636E"/>
                </a:solidFill>
                <a:latin typeface="Segoe UI"/>
              </a:rPr>
              <a:t>Механика: Литвинов → школа → направление → группа. Квота физически передаётся вниз по дереву, у каждого профорга свой остаток (сумма квоты хранится у каждого уровня).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5349240" cy="45720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4983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+  Плюсы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60320"/>
            <a:ext cx="5349240" cy="4206240"/>
          </a:xfrm>
          <a:prstGeom prst="rect">
            <a:avLst/>
          </a:prstGeom>
          <a:solidFill>
            <a:srgbClr val="E9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48920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Segoe UI"/>
              </a:rPr>
              <a:t>•  Реальная автономность каждого уровня — профорг сам решает, как распределить свой остаток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Segoe UI"/>
              </a:rPr>
              <a:t>•  Нагрузка на запись размазана по независимым строкам — меньше конкуренции в БД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Segoe UI"/>
              </a:rPr>
              <a:t>•  Естественно масштабируется на любое число уровней иерархии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2103120"/>
            <a:ext cx="5349240" cy="457200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148840"/>
            <a:ext cx="4983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−  Минусы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2560320"/>
            <a:ext cx="5349240" cy="420624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697480"/>
            <a:ext cx="48920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Segoe UI"/>
              </a:rPr>
              <a:t>•  На конец периода остатки размазаны по десяткам суб-счетов — нужна логика возврата/переноса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Segoe UI"/>
              </a:rPr>
              <a:t>•  Уменьшить чей-то лимит задним числом сложно, если он уже раздал часть вниз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Segoe UI"/>
              </a:rPr>
              <a:t>•  Самая сложная в реализации схема при сжатом дедлайне (июль 2026)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F5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D8E4FB"/>
                </a:solidFill>
                <a:latin typeface="Segoe UI"/>
              </a:rPr>
              <a:t>ВОПРОС 1 · ВАРИАНТ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Единая квота + лимиты-потолки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5F636E"/>
                </a:solidFill>
                <a:latin typeface="Segoe UI"/>
              </a:rPr>
              <a:t>Механика: Один центральный пул у Литвинова. У профоргов нет отдельного баланса — только лимит-потолок и счётчик расхода за период; списание идёт сразу с центра.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5349240" cy="45720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4983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+  Плюсы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60320"/>
            <a:ext cx="5349240" cy="4206240"/>
          </a:xfrm>
          <a:prstGeom prst="rect">
            <a:avLst/>
          </a:prstGeom>
          <a:solidFill>
            <a:srgbClr val="E9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48920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Segoe UI"/>
              </a:rPr>
              <a:t>•  Не остаётся «осколков» на конец периода — весь остаток и так в одном месте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Segoe UI"/>
              </a:rPr>
              <a:t>•  Одно число = весь оставшийся бюджет, легко посчитать и пополнить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Segoe UI"/>
              </a:rPr>
              <a:t>•  Изменить лимит профорга — просто правится число, ничего не нужно отзывать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2103120"/>
            <a:ext cx="5349240" cy="457200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148840"/>
            <a:ext cx="4983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−  Минусы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2560320"/>
            <a:ext cx="5349240" cy="420624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697480"/>
            <a:ext cx="48920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Segoe UI"/>
              </a:rPr>
              <a:t>•  Все записи идут в одну сущность — риск конкуренции при массовых начислениях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Segoe UI"/>
              </a:rPr>
              <a:t>•  Нужно решить: заявка = ручное согласование (узкое место) или автосписание по лимиту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Segoe UI"/>
              </a:rPr>
              <a:t>•  Школа не может сама перераспределить лимит между направлениями без вмешательства сверху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F5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D8E4FB"/>
                </a:solidFill>
                <a:latin typeface="Segoe UI"/>
              </a:rPr>
              <a:t>ВОПРОС 1 · ВАРИАНТ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Бюджет на конкретное мероприятие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5F636E"/>
                </a:solidFill>
                <a:latin typeface="Segoe UI"/>
              </a:rPr>
              <a:t>Механика: Литвинов утверждает бюджет баллов при модерации каждого мероприятия (использует уже спроектированный ModerationController Events Service).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5349240" cy="45720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4983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+  Плюсы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60320"/>
            <a:ext cx="5349240" cy="4206240"/>
          </a:xfrm>
          <a:prstGeom prst="rect">
            <a:avLst/>
          </a:prstGeom>
          <a:solidFill>
            <a:srgbClr val="E9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48920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Segoe UI"/>
              </a:rPr>
              <a:t>•  Эмиссия привязана к проверяемому основанию — конкретному мероприятию, а не абстрактному лимиту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Segoe UI"/>
              </a:rPr>
              <a:t>•  Использует уже существующий шаг модерации — минимум новой инфраструктуры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Segoe UI"/>
              </a:rPr>
              <a:t>•  Прозрачно для студентов: заранее видно, сколько баллов даст мероприятие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2103120"/>
            <a:ext cx="5349240" cy="457200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148840"/>
            <a:ext cx="4983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−  Минусы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2560320"/>
            <a:ext cx="5349240" cy="420624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697480"/>
            <a:ext cx="48920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Segoe UI"/>
              </a:rPr>
              <a:t>•  Не покрывает неевентовые источники баллов (помощь в организации, опросы)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Segoe UI"/>
              </a:rPr>
              <a:t>•  Литвинов/модератор — узкое место при большом потоке мелких мероприятий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Segoe UI"/>
              </a:rPr>
              <a:t>•  Требует решения по лимиту участников (C1) или ломает мгновенное начисление при чек-ине (C2)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5F636E"/>
                </a:solidFill>
                <a:latin typeface="Segoe UI"/>
              </a:rPr>
              <a:t>C1 — бюджет и лимит участников утверждаются заранее.  C2 — бюджет считается по факту явки после мероприятия.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468880"/>
            <a:ext cx="29260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0" b="1" i="0">
                <a:solidFill>
                  <a:srgbClr val="2F5DC7"/>
                </a:solidFill>
                <a:latin typeface="Segoe UI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49039" y="2651760"/>
            <a:ext cx="7680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Формирование общего пула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39" y="3566160"/>
            <a:ext cx="76809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B9C3D9"/>
                </a:solidFill>
                <a:latin typeface="Segoe UI"/>
              </a:rPr>
              <a:t>Формальная привязка к объёму мерча
vs дискреционная раздача по усмотрению Литвинова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F5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D8E4FB"/>
                </a:solidFill>
                <a:latin typeface="Segoe UI"/>
              </a:rPr>
              <a:t>ВОПРОС 2 · ВАРИАНТ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Формальная привязка к объёму мерча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5F636E"/>
                </a:solidFill>
                <a:latin typeface="Segoe UI"/>
              </a:rPr>
              <a:t>Механика: Общий пул = Бюджет на мерч за период / Курс «балл → рубль». Число не выбирается вручную, а считается по формуле от реального бюджета.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5349240" cy="45720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4983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+  Плюсы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60320"/>
            <a:ext cx="5349240" cy="4206240"/>
          </a:xfrm>
          <a:prstGeom prst="rect">
            <a:avLst/>
          </a:prstGeom>
          <a:solidFill>
            <a:srgbClr val="E9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48920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Segoe UI"/>
              </a:rPr>
              <a:t>•  Структурная защита от инфляции баллов — эмиссия физически не может оторваться от бюджета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Segoe UI"/>
              </a:rPr>
              <a:t>•  Баланс баллов в системе = реальное финансовое обязательство под контролем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Segoe UI"/>
              </a:rPr>
              <a:t>•  Прозрачная и объяснимая калибровка цен товаров в магазине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2103120"/>
            <a:ext cx="5349240" cy="457200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148840"/>
            <a:ext cx="4983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−  Минусы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2560320"/>
            <a:ext cx="5349240" cy="420624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697480"/>
            <a:ext cx="48920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Segoe UI"/>
              </a:rPr>
              <a:t>•  Требует заранее знать реальный бюджет профкома на мерч за период (сейчас не назван)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Segoe UI"/>
              </a:rPr>
              <a:t>•  Менее гибко реагирует на нестандартные ситуации — реакция на исчерпание требует отдельного механизма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F5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D8E4FB"/>
                </a:solidFill>
                <a:latin typeface="Segoe UI"/>
              </a:rPr>
              <a:t>ВОПРОС 2 · ВАРИАНТ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Дискреционная раздача Литвиновым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5F636E"/>
                </a:solidFill>
                <a:latin typeface="Segoe UI"/>
              </a:rPr>
              <a:t>Механика: Литвинов определяет объём эмиссии баллов по своему усмотрению, без привязки к формуле и объёму реального мерча.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5349240" cy="45720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4983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+  Плюсы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60320"/>
            <a:ext cx="5349240" cy="4206240"/>
          </a:xfrm>
          <a:prstGeom prst="rect">
            <a:avLst/>
          </a:prstGeom>
          <a:solidFill>
            <a:srgbClr val="E9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48920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Segoe UI"/>
              </a:rPr>
              <a:t>•  Максимальная гибкость и простота правил — не нужно заранее считать бюджет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Segoe UI"/>
              </a:rPr>
              <a:t>•  Можно мгновенно реагировать на любую ситуацию без формальных процедур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2103120"/>
            <a:ext cx="5349240" cy="457200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148840"/>
            <a:ext cx="4983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−  Минусы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2560320"/>
            <a:ext cx="5349240" cy="420624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697480"/>
            <a:ext cx="48920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Segoe UI"/>
              </a:rPr>
              <a:t>•  Нет ни одного структурного ограничителя инфляции баллов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Segoe UI"/>
              </a:rPr>
              <a:t>•  Единственная защита от переэмиссии — личная дисциплина одного человека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Segoe UI"/>
              </a:rPr>
              <a:t>•  Риск, что выданные баллы со временем перестанут быть обеспечены реальным бюджетом на мерч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468880"/>
            <a:ext cx="29260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0" b="1" i="0">
                <a:solidFill>
                  <a:srgbClr val="2F5DC7"/>
                </a:solidFill>
                <a:latin typeface="Segoe UI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49039" y="2651760"/>
            <a:ext cx="7680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Сгорание баллов студента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39" y="3566160"/>
            <a:ext cx="76809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B9C3D9"/>
                </a:solidFill>
                <a:latin typeface="Segoe UI"/>
              </a:rPr>
              <a:t>Несгораемые баллы vs сгорание раз в курс (учебный год)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F5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D8E4FB"/>
                </a:solidFill>
                <a:latin typeface="Segoe UI"/>
              </a:rPr>
              <a:t>ВОПРОС 3 · ВАРИАНТ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Несгораемые баллы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5F636E"/>
                </a:solidFill>
                <a:latin typeface="Segoe UI"/>
              </a:rPr>
              <a:t>Механика: Баллы студента хранятся бессрочно, тратятся когда угодно.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5349240" cy="45720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4983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+  Плюсы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60320"/>
            <a:ext cx="5349240" cy="4206240"/>
          </a:xfrm>
          <a:prstGeom prst="rect">
            <a:avLst/>
          </a:prstGeom>
          <a:solidFill>
            <a:srgbClr val="E9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48920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Segoe UI"/>
              </a:rPr>
              <a:t>•  Простая и понятная модель для студента — накопил, трать когда хочешь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Segoe UI"/>
              </a:rPr>
              <a:t>•  Не нужен отдельный механизм экспирации (планировщик, уведомления, EXPIRE-транзакции)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Segoe UI"/>
              </a:rPr>
              <a:t>•  Можно копить на дорогой товар дольше одного года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2103120"/>
            <a:ext cx="5349240" cy="457200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148840"/>
            <a:ext cx="4983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−  Минусы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2560320"/>
            <a:ext cx="5349240" cy="420624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697480"/>
            <a:ext cx="48920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Segoe UI"/>
              </a:rPr>
              <a:t>•  Противоречит идее баллов как представления реального бюджета — обязательство растёт бессрочно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Segoe UI"/>
              </a:rPr>
              <a:t>•  Риск «выпускного шока»: резкий обмен накопленного за годы баланса перед выпуском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Segoe UI"/>
              </a:rPr>
              <a:t>•  Формула расчёта пула на период со временем перестаёт быть точной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F5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D8E4FB"/>
                </a:solidFill>
                <a:latin typeface="Segoe UI"/>
              </a:rPr>
              <a:t>ВОПРОС 3 · ВАРИАНТ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Сгорание раз в курс (учебный год)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5F636E"/>
                </a:solidFill>
                <a:latin typeface="Segoe UI"/>
              </a:rPr>
              <a:t>Механика: Неизрасходованные баллы студента аннулируются в конце учебного года.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5349240" cy="45720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4983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+  Плюсы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60320"/>
            <a:ext cx="5349240" cy="4206240"/>
          </a:xfrm>
          <a:prstGeom prst="rect">
            <a:avLst/>
          </a:prstGeom>
          <a:solidFill>
            <a:srgbClr val="E9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48920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Segoe UI"/>
              </a:rPr>
              <a:t>•  Ограничивает обязательство окном в 1 год — бюджет на мерч предсказуем по годам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Segoe UI"/>
              </a:rPr>
              <a:t>•  Мотивирует активность в текущем году («используй или потеряешь»)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Segoe UI"/>
              </a:rPr>
              <a:t>•  Накопленный «хвост» не может уйти вместе с выпуском студента одним махом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2103120"/>
            <a:ext cx="5349240" cy="457200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148840"/>
            <a:ext cx="4983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−  Минусы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2560320"/>
            <a:ext cx="5349240" cy="420624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697480"/>
            <a:ext cx="48920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Segoe UI"/>
              </a:rPr>
              <a:t>•  Нужен механизм: дата сгорания, отдельная EXPIRE-транзакция в леджере, уведомления заранее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Segoe UI"/>
              </a:rPr>
              <a:t>•  Риск всплеска покупок прямо перед датой сгорания — нагрузка на склад магазина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Segoe UI"/>
              </a:rPr>
              <a:t>•  Ощущается несправедливым для баллов, заработанных незадолго до сгорания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5F636E"/>
                </a:solidFill>
                <a:latin typeface="Segoe UI"/>
              </a:rPr>
              <a:t>Гибриды для смягчения: частичное сгорание, перенос до 20% остатка, скользящее окно по каждому начислению.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468880"/>
            <a:ext cx="29260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0" b="1" i="0">
                <a:solidFill>
                  <a:srgbClr val="2F5DC7"/>
                </a:solidFill>
                <a:latin typeface="Segoe UI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49039" y="2651760"/>
            <a:ext cx="7680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Исчерпание бюджета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39" y="3566160"/>
            <a:ext cx="76809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B9C3D9"/>
                </a:solidFill>
                <a:latin typeface="Segoe UI"/>
              </a:rPr>
              <a:t>Что делать, если баллы закончились,
а мероприятия ещё остались?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F5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D8E4FB"/>
                </a:solidFill>
                <a:latin typeface="Segoe UI"/>
              </a:rPr>
              <a:t>ВОПРОС 4 · ВАРИАНТ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Резервный буфер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5F636E"/>
                </a:solidFill>
                <a:latin typeface="Segoe UI"/>
              </a:rPr>
              <a:t>Механика: При расчёте пула на период заранее откладывается 10–15% как резерв на непредвиденные мероприятия, не привязанный ни к одному конкретному событию.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5349240" cy="45720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4983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+  Плюсы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60320"/>
            <a:ext cx="5349240" cy="4206240"/>
          </a:xfrm>
          <a:prstGeom prst="rect">
            <a:avLst/>
          </a:prstGeom>
          <a:solidFill>
            <a:srgbClr val="E9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48920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Segoe UI"/>
              </a:rPr>
              <a:t>•  Готовое решение без экстренных ad hoc действий в моменте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Segoe UI"/>
              </a:rPr>
              <a:t>•  Не нарушает принцип «баллы = реальный бюджет»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Segoe UI"/>
              </a:rPr>
              <a:t>•  Просто комбинируется с любой моделью распределения квоты (A / B / C)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2103120"/>
            <a:ext cx="5349240" cy="457200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148840"/>
            <a:ext cx="4983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−  Минусы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2560320"/>
            <a:ext cx="5349240" cy="420624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697480"/>
            <a:ext cx="48920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Segoe UI"/>
              </a:rPr>
              <a:t>•  Если резерв не пригодился — эти баллы простаивают неиспользованными до конца периода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Segoe UI"/>
              </a:rPr>
              <a:t>•  Не спасает, если непредвиденных событий больше, чем размер резерва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Segoe UI"/>
              </a:rPr>
              <a:t>•  Нужно правильно откалибровать процент — слишком мало не поможет, слишком много урежет плановые мероприятия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F5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D8E4FB"/>
                </a:solidFill>
                <a:latin typeface="Segoe UI"/>
              </a:rPr>
              <a:t>ВОПРОС 4 · ВАРИАНТ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Литвинов покупает новый мерч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5F636E"/>
                </a:solidFill>
                <a:latin typeface="Segoe UI"/>
              </a:rPr>
              <a:t>Механика: При исчерпании пула — реальная закупка дополнительного мерча на реальные деньги, бюджет и пул баллов легитимно увеличиваются.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5349240" cy="45720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4983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+  Плюсы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60320"/>
            <a:ext cx="5349240" cy="4206240"/>
          </a:xfrm>
          <a:prstGeom prst="rect">
            <a:avLst/>
          </a:prstGeom>
          <a:solidFill>
            <a:srgbClr val="E9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48920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Segoe UI"/>
              </a:rPr>
              <a:t>•  Полностью сохраняет принцип «1 балл = реальный товар» даже в исключительной ситуации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Segoe UI"/>
              </a:rPr>
              <a:t>•  Не создаёт «фантомных» обязательств, не покрытых реальным товаром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2103120"/>
            <a:ext cx="5349240" cy="457200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148840"/>
            <a:ext cx="4983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−  Минусы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2560320"/>
            <a:ext cx="5349240" cy="420624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697480"/>
            <a:ext cx="48920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Segoe UI"/>
              </a:rPr>
              <a:t>•  Закупка требует времени (заказ, доставка) — не решает срочную потребность прямо сейчас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Segoe UI"/>
              </a:rPr>
              <a:t>•  Требует свободных денег сверх изначально запланированного бюджета на период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F5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D8E4FB"/>
                </a:solidFill>
                <a:latin typeface="Segoe UI"/>
              </a:rPr>
              <a:t>ВОПРОС 4 · ВАРИАНТ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Литвинов добавляет баллы, не привязанные к мерчу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5F636E"/>
                </a:solidFill>
                <a:latin typeface="Segoe UI"/>
              </a:rPr>
              <a:t>Механика: Экстренная эмиссия сверх формального пула — отдельный тип транзакции (например, EMERGENCY_ALLOCATION), не смешанный с обычными начислениями.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5349240" cy="45720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4983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+  Плюсы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60320"/>
            <a:ext cx="5349240" cy="4206240"/>
          </a:xfrm>
          <a:prstGeom prst="rect">
            <a:avLst/>
          </a:prstGeom>
          <a:solidFill>
            <a:srgbClr val="E9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48920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Segoe UI"/>
              </a:rPr>
              <a:t>•  Мгновенное решение проблемы, без задержек на закупку или согласования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Segoe UI"/>
              </a:rPr>
              <a:t>•  Максимальная гибкость в моменте — покрывает любую нестандартную ситуацию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2103120"/>
            <a:ext cx="5349240" cy="457200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148840"/>
            <a:ext cx="4983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−  Минусы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2560320"/>
            <a:ext cx="5349240" cy="420624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697480"/>
            <a:ext cx="48920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Segoe UI"/>
              </a:rPr>
              <a:t>•  Нарушает принцип обеспеченности баллов реальным бюджетом — прямой риск инфляции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Segoe UI"/>
              </a:rPr>
              <a:t>•  Нужен строгий отдельный учёт, чтобы исключение не стало нормой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1F2A"/>
                </a:solidFill>
                <a:latin typeface="Segoe UI"/>
              </a:rPr>
              <a:t>•  Требует последующей компенсации (например, вариантом 2), иначе «долг» остаётся навсегда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468880"/>
            <a:ext cx="29260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0" b="1" i="0">
                <a:solidFill>
                  <a:srgbClr val="2F5DC7"/>
                </a:solidFill>
                <a:latin typeface="Segoe UI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49039" y="2651760"/>
            <a:ext cx="7680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Два итоговых варианта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39" y="3566160"/>
            <a:ext cx="76809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B9C3D9"/>
                </a:solidFill>
                <a:latin typeface="Segoe UI"/>
              </a:rPr>
              <a:t>Целостные пакеты решений, собранные из разобранных выше пунктов —
для финального выбора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6B4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0F0F0"/>
                </a:solidFill>
                <a:latin typeface="Segoe UI"/>
              </a:rPr>
              <a:t>ИТОГ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Максимальная гибкость и автономность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64240" cy="1417320"/>
          </a:xfrm>
          <a:prstGeom prst="rect">
            <a:avLst/>
          </a:prstGeom>
          <a:solidFill>
            <a:srgbClr val="EA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27048"/>
            <a:ext cx="10607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50">
                <a:solidFill>
                  <a:srgbClr val="1B1F2A"/>
                </a:solidFill>
                <a:latin typeface="Segoe UI"/>
              </a:rPr>
              <a:t>•  Литвинов сам решает, сколько баллов раздать — без формулы, по личному усмотрению</a:t>
            </a:r>
          </a:p>
          <a:p>
            <a:pPr>
              <a:spcAft>
                <a:spcPts val="400"/>
              </a:spcAft>
            </a:pPr>
            <a:r>
              <a:rPr sz="1450">
                <a:solidFill>
                  <a:srgbClr val="1B1F2A"/>
                </a:solidFill>
                <a:latin typeface="Segoe UI"/>
              </a:rPr>
              <a:t>•  Модель распределения квоты — Вариант A (каскадные суб-кошельки школа → направление → группа)</a:t>
            </a:r>
          </a:p>
          <a:p>
            <a:pPr>
              <a:spcAft>
                <a:spcPts val="400"/>
              </a:spcAft>
            </a:pPr>
            <a:r>
              <a:rPr sz="1450">
                <a:solidFill>
                  <a:srgbClr val="1B1F2A"/>
                </a:solidFill>
                <a:latin typeface="Segoe UI"/>
              </a:rPr>
              <a:t>•  Баллы студентов не сгорают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017520"/>
            <a:ext cx="5349240" cy="41148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044952"/>
            <a:ext cx="4983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+  Плюсы пакета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429000"/>
            <a:ext cx="5349240" cy="2880360"/>
          </a:xfrm>
          <a:prstGeom prst="rect">
            <a:avLst/>
          </a:prstGeom>
          <a:solidFill>
            <a:srgbClr val="E9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547872"/>
            <a:ext cx="494690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>
                <a:solidFill>
                  <a:srgbClr val="1B1F2A"/>
                </a:solidFill>
                <a:latin typeface="Segoe UI"/>
              </a:rPr>
              <a:t>•  Максимальная гибкость и реальная автономность профоргов на каждом уровне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1B1F2A"/>
                </a:solidFill>
                <a:latin typeface="Segoe UI"/>
              </a:rPr>
              <a:t>•  Простая для восприятия студентом модель — копи сколько хочешь, трать когда хочешь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1B1F2A"/>
                </a:solidFill>
                <a:latin typeface="Segoe UI"/>
              </a:rPr>
              <a:t>•  Минимум процедурных ограничений на начисление в моменте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3017520"/>
            <a:ext cx="5349240" cy="411480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3044952"/>
            <a:ext cx="4983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−  Минусы пакета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429000"/>
            <a:ext cx="5349240" cy="288036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3547872"/>
            <a:ext cx="494690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>
                <a:solidFill>
                  <a:srgbClr val="1B1F2A"/>
                </a:solidFill>
                <a:latin typeface="Segoe UI"/>
              </a:rPr>
              <a:t>•  Нет ни одного структурного ограничителя инфляции — единственная защита это дисциплина одного человека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1B1F2A"/>
                </a:solidFill>
                <a:latin typeface="Segoe UI"/>
              </a:rPr>
              <a:t>•  Самая сложная в реализации схема (A) при и без того сжатом дедлайне (июль 2026)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1B1F2A"/>
                </a:solidFill>
                <a:latin typeface="Segoe UI"/>
              </a:rPr>
              <a:t>•  Риск «выпускного шока» никак не устранён — обязательства могут копиться бессрочно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0F0F0"/>
                </a:solidFill>
                <a:latin typeface="Segoe UI"/>
              </a:rPr>
              <a:t>ИТОГ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Формульный контроль с элементом вовлечения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64240" cy="1417320"/>
          </a:xfrm>
          <a:prstGeom prst="rect">
            <a:avLst/>
          </a:prstGeom>
          <a:solidFill>
            <a:srgbClr val="EA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27048"/>
            <a:ext cx="10607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50">
                <a:solidFill>
                  <a:srgbClr val="1B1F2A"/>
                </a:solidFill>
                <a:latin typeface="Segoe UI"/>
              </a:rPr>
              <a:t>•  Квота чётко рассчитывается на основе объёма мерча: Общий пул = Бюджет на мерч / Курс балла</a:t>
            </a:r>
          </a:p>
          <a:p>
            <a:pPr>
              <a:spcAft>
                <a:spcPts val="400"/>
              </a:spcAft>
            </a:pPr>
            <a:r>
              <a:rPr sz="1450">
                <a:solidFill>
                  <a:srgbClr val="1B1F2A"/>
                </a:solidFill>
                <a:latin typeface="Segoe UI"/>
              </a:rPr>
              <a:t>•  Модель распределения квоты — Вариант C1 (бюджет утверждается на мероприятие заранее)</a:t>
            </a:r>
          </a:p>
          <a:p>
            <a:pPr>
              <a:spcAft>
                <a:spcPts val="400"/>
              </a:spcAft>
            </a:pPr>
            <a:r>
              <a:rPr sz="1450">
                <a:solidFill>
                  <a:srgbClr val="1B1F2A"/>
                </a:solidFill>
                <a:latin typeface="Segoe UI"/>
              </a:rPr>
              <a:t>•  Баллы студентов сгорают раз в год (курс)</a:t>
            </a:r>
          </a:p>
          <a:p>
            <a:pPr>
              <a:spcAft>
                <a:spcPts val="400"/>
              </a:spcAft>
            </a:pPr>
            <a:r>
              <a:rPr sz="1450">
                <a:solidFill>
                  <a:srgbClr val="1B1F2A"/>
                </a:solidFill>
                <a:latin typeface="Segoe UI"/>
              </a:rPr>
              <a:t>•  При расчёте доступной из квоты суммы 20% автоматически уходит в резерв</a:t>
            </a:r>
          </a:p>
          <a:p>
            <a:pPr>
              <a:spcAft>
                <a:spcPts val="400"/>
              </a:spcAft>
            </a:pPr>
            <a:r>
              <a:rPr sz="1450">
                <a:solidFill>
                  <a:srgbClr val="1B1F2A"/>
                </a:solidFill>
                <a:latin typeface="Segoe UI"/>
              </a:rPr>
              <a:t>•  Если резерв не израсходован к концу курса — распродажа мерча со скидками, рассчитанными от остатка резерва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017520"/>
            <a:ext cx="5349240" cy="41148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044952"/>
            <a:ext cx="4983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+  Плюсы пакета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429000"/>
            <a:ext cx="5349240" cy="2880360"/>
          </a:xfrm>
          <a:prstGeom prst="rect">
            <a:avLst/>
          </a:prstGeom>
          <a:solidFill>
            <a:srgbClr val="E9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547872"/>
            <a:ext cx="494690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>
                <a:solidFill>
                  <a:srgbClr val="1B1F2A"/>
                </a:solidFill>
                <a:latin typeface="Segoe UI"/>
              </a:rPr>
              <a:t>•  Полностью формульный контроль эмиссии — минимальный риск инфляции баллов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1B1F2A"/>
                </a:solidFill>
                <a:latin typeface="Segoe UI"/>
              </a:rPr>
              <a:t>•  Резерв закрывает непредвиденные мероприятия без нарушения принципа обеспеченности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1B1F2A"/>
                </a:solidFill>
                <a:latin typeface="Segoe UI"/>
              </a:rPr>
              <a:t>•  Неизрасходованный резерв не пропадает впустую, а конвертируется в пользу для студентов — синергия с истечением срока баллов, дополнительный стимул успеть потратить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1B1F2A"/>
                </a:solidFill>
                <a:latin typeface="Segoe UI"/>
              </a:rPr>
              <a:t>•  Использует уже спроектированную инфраструктуру модерации мероприятий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3017520"/>
            <a:ext cx="5349240" cy="411480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3044952"/>
            <a:ext cx="4983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−  Минусы пакета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429000"/>
            <a:ext cx="5349240" cy="288036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3547872"/>
            <a:ext cx="494690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>
                <a:solidFill>
                  <a:srgbClr val="1B1F2A"/>
                </a:solidFill>
                <a:latin typeface="Segoe UI"/>
              </a:rPr>
              <a:t>•  Самая насыщенная логика начислений (учёт резерва, коммит/релиз бюджета, расчёт скидок распродажи)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1B1F2A"/>
                </a:solidFill>
                <a:latin typeface="Segoe UI"/>
              </a:rPr>
              <a:t>•  Требует решения открытого вопроса о лимите участников мероприятия (ещё не закрыт заказчиком)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1B1F2A"/>
                </a:solidFill>
                <a:latin typeface="Segoe UI"/>
              </a:rPr>
              <a:t>•  Требует новой функциональности в Shop Service — временные скидочные кампании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1B1F2A"/>
                </a:solidFill>
                <a:latin typeface="Segoe UI"/>
              </a:rPr>
              <a:t>•  Литвинов/модератор остаётся узким местом при большом потоке мелких мероприятий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Какой из вариантов берём за основу?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661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B9C3D9"/>
                </a:solidFill>
                <a:latin typeface="Segoe UI"/>
              </a:rPr>
              <a:t>Возможны и гибридные комбинации пунктов 1–4 — не только Итог 1 или Итог 2 целиком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